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Lst>
  <p:sldSz cx="18288000" cy="10287000"/>
  <p:notesSz cx="6858000" cy="9144000"/>
  <p:embeddedFontLst>
    <p:embeddedFont>
      <p:font typeface="HK Grotesk" panose="020B0604020202020204" charset="0"/>
      <p:regular r:id="rId9"/>
    </p:embeddedFont>
    <p:embeddedFont>
      <p:font typeface="HK Grotesk Bold" panose="020B0604020202020204" charset="0"/>
      <p:regular r:id="rId10"/>
    </p:embeddedFont>
    <p:embeddedFont>
      <p:font typeface="League Spartan" panose="020B0604020202020204" charset="0"/>
      <p:regular r:id="rId1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12/27/2025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0312" r="-20312"/>
            </a:stretch>
          </a:blipFill>
        </p:spPr>
        <p:txBody>
          <a:bodyPr/>
          <a:lstStyle/>
          <a:p>
            <a:endParaRPr lang="en-IN"/>
          </a:p>
        </p:txBody>
      </p:sp>
      <p:grpSp>
        <p:nvGrpSpPr>
          <p:cNvPr id="3" name="Group 3"/>
          <p:cNvGrpSpPr/>
          <p:nvPr/>
        </p:nvGrpSpPr>
        <p:grpSpPr>
          <a:xfrm>
            <a:off x="15201900" y="-243473"/>
            <a:ext cx="3086100" cy="10287000"/>
            <a:chOff x="0" y="0"/>
            <a:chExt cx="812800" cy="2709333"/>
          </a:xfrm>
        </p:grpSpPr>
        <p:sp>
          <p:nvSpPr>
            <p:cNvPr id="4" name="Freeform 4"/>
            <p:cNvSpPr/>
            <p:nvPr/>
          </p:nvSpPr>
          <p:spPr>
            <a:xfrm>
              <a:off x="0" y="0"/>
              <a:ext cx="812800" cy="2709333"/>
            </a:xfrm>
            <a:custGeom>
              <a:avLst/>
              <a:gdLst/>
              <a:ahLst/>
              <a:cxnLst/>
              <a:rect l="l" t="t" r="r" b="b"/>
              <a:pathLst>
                <a:path w="812800" h="2709333">
                  <a:moveTo>
                    <a:pt x="0" y="0"/>
                  </a:moveTo>
                  <a:lnTo>
                    <a:pt x="812800" y="0"/>
                  </a:lnTo>
                  <a:lnTo>
                    <a:pt x="812800" y="2709333"/>
                  </a:lnTo>
                  <a:lnTo>
                    <a:pt x="0" y="2709333"/>
                  </a:lnTo>
                  <a:close/>
                </a:path>
              </a:pathLst>
            </a:custGeom>
            <a:solidFill>
              <a:srgbClr val="593C8F"/>
            </a:solidFill>
          </p:spPr>
          <p:txBody>
            <a:bodyPr/>
            <a:lstStyle/>
            <a:p>
              <a:endParaRPr lang="en-IN"/>
            </a:p>
          </p:txBody>
        </p:sp>
        <p:sp>
          <p:nvSpPr>
            <p:cNvPr id="5" name="TextBox 5"/>
            <p:cNvSpPr txBox="1"/>
            <p:nvPr/>
          </p:nvSpPr>
          <p:spPr>
            <a:xfrm>
              <a:off x="0" y="-47625"/>
              <a:ext cx="812800" cy="2756958"/>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402607" y="4900027"/>
            <a:ext cx="731870" cy="908643"/>
          </a:xfrm>
          <a:custGeom>
            <a:avLst/>
            <a:gdLst/>
            <a:ahLst/>
            <a:cxnLst/>
            <a:rect l="l" t="t" r="r" b="b"/>
            <a:pathLst>
              <a:path w="731870" h="908643">
                <a:moveTo>
                  <a:pt x="0" y="0"/>
                </a:moveTo>
                <a:lnTo>
                  <a:pt x="731870" y="0"/>
                </a:lnTo>
                <a:lnTo>
                  <a:pt x="731870" y="908642"/>
                </a:lnTo>
                <a:lnTo>
                  <a:pt x="0" y="90864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
        <p:nvSpPr>
          <p:cNvPr id="7" name="TextBox 7"/>
          <p:cNvSpPr txBox="1"/>
          <p:nvPr/>
        </p:nvSpPr>
        <p:spPr>
          <a:xfrm>
            <a:off x="1422216" y="5021425"/>
            <a:ext cx="13409002" cy="787244"/>
          </a:xfrm>
          <a:prstGeom prst="rect">
            <a:avLst/>
          </a:prstGeom>
        </p:spPr>
        <p:txBody>
          <a:bodyPr lIns="0" tIns="0" rIns="0" bIns="0" rtlCol="0" anchor="t">
            <a:spAutoFit/>
          </a:bodyPr>
          <a:lstStyle/>
          <a:p>
            <a:pPr algn="l">
              <a:lnSpc>
                <a:spcPts val="6205"/>
              </a:lnSpc>
            </a:pPr>
            <a:r>
              <a:rPr lang="en-US" sz="5171" b="1">
                <a:solidFill>
                  <a:srgbClr val="040606"/>
                </a:solidFill>
                <a:latin typeface="HK Grotesk Bold"/>
                <a:ea typeface="HK Grotesk Bold"/>
                <a:cs typeface="HK Grotesk Bold"/>
                <a:sym typeface="HK Grotesk Bold"/>
              </a:rPr>
              <a:t>CREDIT CARD WEEKLY FINANCIAL REPORT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0312" r="-20312"/>
            </a:stretch>
          </a:blipFill>
        </p:spPr>
        <p:txBody>
          <a:bodyPr/>
          <a:lstStyle/>
          <a:p>
            <a:endParaRPr lang="en-IN"/>
          </a:p>
        </p:txBody>
      </p:sp>
      <p:grpSp>
        <p:nvGrpSpPr>
          <p:cNvPr id="3" name="Group 3"/>
          <p:cNvGrpSpPr/>
          <p:nvPr/>
        </p:nvGrpSpPr>
        <p:grpSpPr>
          <a:xfrm>
            <a:off x="0" y="0"/>
            <a:ext cx="3086100" cy="10287000"/>
            <a:chOff x="0" y="0"/>
            <a:chExt cx="812800" cy="2709333"/>
          </a:xfrm>
        </p:grpSpPr>
        <p:sp>
          <p:nvSpPr>
            <p:cNvPr id="4" name="Freeform 4"/>
            <p:cNvSpPr/>
            <p:nvPr/>
          </p:nvSpPr>
          <p:spPr>
            <a:xfrm>
              <a:off x="0" y="0"/>
              <a:ext cx="812800" cy="2709333"/>
            </a:xfrm>
            <a:custGeom>
              <a:avLst/>
              <a:gdLst/>
              <a:ahLst/>
              <a:cxnLst/>
              <a:rect l="l" t="t" r="r" b="b"/>
              <a:pathLst>
                <a:path w="812800" h="2709333">
                  <a:moveTo>
                    <a:pt x="0" y="0"/>
                  </a:moveTo>
                  <a:lnTo>
                    <a:pt x="812800" y="0"/>
                  </a:lnTo>
                  <a:lnTo>
                    <a:pt x="812800" y="2709333"/>
                  </a:lnTo>
                  <a:lnTo>
                    <a:pt x="0" y="2709333"/>
                  </a:lnTo>
                  <a:close/>
                </a:path>
              </a:pathLst>
            </a:custGeom>
            <a:solidFill>
              <a:srgbClr val="593C8F"/>
            </a:solidFill>
          </p:spPr>
          <p:txBody>
            <a:bodyPr/>
            <a:lstStyle/>
            <a:p>
              <a:endParaRPr lang="en-IN"/>
            </a:p>
          </p:txBody>
        </p:sp>
        <p:sp>
          <p:nvSpPr>
            <p:cNvPr id="5" name="TextBox 5"/>
            <p:cNvSpPr txBox="1"/>
            <p:nvPr/>
          </p:nvSpPr>
          <p:spPr>
            <a:xfrm>
              <a:off x="0" y="-47625"/>
              <a:ext cx="812800" cy="2756958"/>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3898830" y="4181803"/>
            <a:ext cx="10490340" cy="3863702"/>
          </a:xfrm>
          <a:prstGeom prst="rect">
            <a:avLst/>
          </a:prstGeom>
        </p:spPr>
        <p:txBody>
          <a:bodyPr lIns="0" tIns="0" rIns="0" bIns="0" rtlCol="0" anchor="t">
            <a:spAutoFit/>
          </a:bodyPr>
          <a:lstStyle/>
          <a:p>
            <a:pPr marL="1041139" lvl="1" indent="-520569" algn="l">
              <a:lnSpc>
                <a:spcPts val="7763"/>
              </a:lnSpc>
              <a:buFont typeface="Arial"/>
              <a:buChar char="•"/>
            </a:pPr>
            <a:r>
              <a:rPr lang="en-US" sz="4822">
                <a:solidFill>
                  <a:srgbClr val="040606"/>
                </a:solidFill>
                <a:latin typeface="HK Grotesk"/>
                <a:ea typeface="HK Grotesk"/>
                <a:cs typeface="HK Grotesk"/>
                <a:sym typeface="HK Grotesk"/>
              </a:rPr>
              <a:t>Project Objective</a:t>
            </a:r>
          </a:p>
          <a:p>
            <a:pPr marL="1041139" lvl="1" indent="-520569" algn="l">
              <a:lnSpc>
                <a:spcPts val="7763"/>
              </a:lnSpc>
              <a:buFont typeface="Arial"/>
              <a:buChar char="•"/>
            </a:pPr>
            <a:r>
              <a:rPr lang="en-US" sz="4822">
                <a:solidFill>
                  <a:srgbClr val="040606"/>
                </a:solidFill>
                <a:latin typeface="HK Grotesk"/>
                <a:ea typeface="HK Grotesk"/>
                <a:cs typeface="HK Grotesk"/>
                <a:sym typeface="HK Grotesk"/>
              </a:rPr>
              <a:t>Financial Insights</a:t>
            </a:r>
          </a:p>
          <a:p>
            <a:pPr marL="1041139" lvl="1" indent="-520569" algn="l">
              <a:lnSpc>
                <a:spcPts val="7763"/>
              </a:lnSpc>
              <a:buFont typeface="Arial"/>
              <a:buChar char="•"/>
            </a:pPr>
            <a:r>
              <a:rPr lang="en-US" sz="4822">
                <a:solidFill>
                  <a:srgbClr val="040606"/>
                </a:solidFill>
                <a:latin typeface="HK Grotesk"/>
                <a:ea typeface="HK Grotesk"/>
                <a:cs typeface="HK Grotesk"/>
                <a:sym typeface="HK Grotesk"/>
              </a:rPr>
              <a:t>Customer Insights</a:t>
            </a:r>
          </a:p>
          <a:p>
            <a:pPr marL="1041139" lvl="1" indent="-520569" algn="l">
              <a:lnSpc>
                <a:spcPts val="7763"/>
              </a:lnSpc>
              <a:buFont typeface="Arial"/>
              <a:buChar char="•"/>
            </a:pPr>
            <a:r>
              <a:rPr lang="en-US" sz="4822">
                <a:solidFill>
                  <a:srgbClr val="040606"/>
                </a:solidFill>
                <a:latin typeface="HK Grotesk"/>
                <a:ea typeface="HK Grotesk"/>
                <a:cs typeface="HK Grotesk"/>
                <a:sym typeface="HK Grotesk"/>
              </a:rPr>
              <a:t>Overall Performance</a:t>
            </a:r>
          </a:p>
        </p:txBody>
      </p:sp>
      <p:sp>
        <p:nvSpPr>
          <p:cNvPr id="7" name="TextBox 7"/>
          <p:cNvSpPr txBox="1"/>
          <p:nvPr/>
        </p:nvSpPr>
        <p:spPr>
          <a:xfrm>
            <a:off x="4577756" y="2615615"/>
            <a:ext cx="3343394" cy="981075"/>
          </a:xfrm>
          <a:prstGeom prst="rect">
            <a:avLst/>
          </a:prstGeom>
        </p:spPr>
        <p:txBody>
          <a:bodyPr lIns="0" tIns="0" rIns="0" bIns="0" rtlCol="0" anchor="t">
            <a:spAutoFit/>
          </a:bodyPr>
          <a:lstStyle/>
          <a:p>
            <a:pPr algn="just">
              <a:lnSpc>
                <a:spcPts val="7733"/>
              </a:lnSpc>
              <a:spcBef>
                <a:spcPct val="0"/>
              </a:spcBef>
            </a:pPr>
            <a:r>
              <a:rPr lang="en-US" sz="6444" b="1" u="sng">
                <a:solidFill>
                  <a:srgbClr val="040606"/>
                </a:solidFill>
                <a:latin typeface="HK Grotesk Bold"/>
                <a:ea typeface="HK Grotesk Bold"/>
                <a:cs typeface="HK Grotesk Bold"/>
                <a:sym typeface="HK Grotesk Bold"/>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0312" r="-20312"/>
            </a:stretch>
          </a:blipFill>
        </p:spPr>
        <p:txBody>
          <a:bodyPr/>
          <a:lstStyle/>
          <a:p>
            <a:endParaRPr lang="en-IN"/>
          </a:p>
        </p:txBody>
      </p:sp>
      <p:sp>
        <p:nvSpPr>
          <p:cNvPr id="3" name="TextBox 3"/>
          <p:cNvSpPr txBox="1"/>
          <p:nvPr/>
        </p:nvSpPr>
        <p:spPr>
          <a:xfrm>
            <a:off x="1028700" y="1758270"/>
            <a:ext cx="7886700" cy="981075"/>
          </a:xfrm>
          <a:prstGeom prst="rect">
            <a:avLst/>
          </a:prstGeom>
        </p:spPr>
        <p:txBody>
          <a:bodyPr wrap="square" lIns="0" tIns="0" rIns="0" bIns="0" rtlCol="0" anchor="t">
            <a:spAutoFit/>
          </a:bodyPr>
          <a:lstStyle/>
          <a:p>
            <a:pPr algn="just">
              <a:lnSpc>
                <a:spcPts val="7733"/>
              </a:lnSpc>
              <a:spcBef>
                <a:spcPct val="0"/>
              </a:spcBef>
            </a:pPr>
            <a:r>
              <a:rPr lang="en-US" sz="6444" b="1" u="sng" dirty="0">
                <a:solidFill>
                  <a:srgbClr val="040606"/>
                </a:solidFill>
                <a:latin typeface="HK Grotesk Bold"/>
                <a:ea typeface="HK Grotesk Bold"/>
                <a:cs typeface="HK Grotesk Bold"/>
                <a:sym typeface="HK Grotesk Bold"/>
              </a:rPr>
              <a:t>Project Objective</a:t>
            </a:r>
          </a:p>
        </p:txBody>
      </p:sp>
      <p:sp>
        <p:nvSpPr>
          <p:cNvPr id="4" name="TextBox 4"/>
          <p:cNvSpPr txBox="1"/>
          <p:nvPr/>
        </p:nvSpPr>
        <p:spPr>
          <a:xfrm>
            <a:off x="1028700" y="3285780"/>
            <a:ext cx="15388252" cy="4544565"/>
          </a:xfrm>
          <a:prstGeom prst="rect">
            <a:avLst/>
          </a:prstGeom>
        </p:spPr>
        <p:txBody>
          <a:bodyPr lIns="0" tIns="0" rIns="0" bIns="0" rtlCol="0" anchor="t">
            <a:spAutoFit/>
          </a:bodyPr>
          <a:lstStyle/>
          <a:p>
            <a:pPr algn="l">
              <a:lnSpc>
                <a:spcPts val="6103"/>
              </a:lnSpc>
            </a:pPr>
            <a:r>
              <a:rPr lang="en-US" sz="3676" dirty="0">
                <a:solidFill>
                  <a:srgbClr val="040606"/>
                </a:solidFill>
                <a:latin typeface="HK Grotesk"/>
                <a:ea typeface="HK Grotesk"/>
                <a:cs typeface="HK Grotesk"/>
                <a:sym typeface="HK Grotesk"/>
              </a:rPr>
              <a:t>The objective of this project is to analyze weekly credit card performance by consolidating transactional data from multiple sources. The processed data is transformed using SQL and Excel and visualized in Power BI to deliver clear financial insights. The dashboard supports effective monitoring of revenue trends, customer behavior, and risk indicators, enabling informed business decisions.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0312" r="-20312"/>
            </a:stretch>
          </a:blipFill>
        </p:spPr>
        <p:txBody>
          <a:bodyPr/>
          <a:lstStyle/>
          <a:p>
            <a:endParaRPr lang="en-IN"/>
          </a:p>
        </p:txBody>
      </p:sp>
      <p:sp>
        <p:nvSpPr>
          <p:cNvPr id="3" name="AutoShape 3"/>
          <p:cNvSpPr/>
          <p:nvPr/>
        </p:nvSpPr>
        <p:spPr>
          <a:xfrm flipH="1">
            <a:off x="1028720" y="2186817"/>
            <a:ext cx="0" cy="0"/>
          </a:xfrm>
          <a:prstGeom prst="line">
            <a:avLst/>
          </a:prstGeom>
          <a:ln w="19050" cap="flat">
            <a:solidFill>
              <a:srgbClr val="000000"/>
            </a:solidFill>
            <a:prstDash val="solid"/>
            <a:headEnd type="none" w="sm" len="sm"/>
            <a:tailEnd type="none" w="sm" len="sm"/>
          </a:ln>
        </p:spPr>
        <p:txBody>
          <a:bodyPr/>
          <a:lstStyle/>
          <a:p>
            <a:endParaRPr lang="en-IN"/>
          </a:p>
        </p:txBody>
      </p:sp>
      <p:sp>
        <p:nvSpPr>
          <p:cNvPr id="4" name="TextBox 4"/>
          <p:cNvSpPr txBox="1"/>
          <p:nvPr/>
        </p:nvSpPr>
        <p:spPr>
          <a:xfrm>
            <a:off x="810240" y="2493024"/>
            <a:ext cx="7462756" cy="3895725"/>
          </a:xfrm>
          <a:prstGeom prst="rect">
            <a:avLst/>
          </a:prstGeom>
        </p:spPr>
        <p:txBody>
          <a:bodyPr lIns="0" tIns="0" rIns="0" bIns="0" rtlCol="0" anchor="t">
            <a:spAutoFit/>
          </a:bodyPr>
          <a:lstStyle/>
          <a:p>
            <a:pPr algn="l">
              <a:lnSpc>
                <a:spcPts val="4116"/>
              </a:lnSpc>
            </a:pPr>
            <a:r>
              <a:rPr lang="en-US" sz="3430" b="1">
                <a:solidFill>
                  <a:srgbClr val="040606"/>
                </a:solidFill>
                <a:latin typeface="HK Grotesk Bold"/>
                <a:ea typeface="HK Grotesk Bold"/>
                <a:cs typeface="HK Grotesk Bold"/>
                <a:sym typeface="HK Grotesk Bold"/>
              </a:rPr>
              <a:t>Week on week change:</a:t>
            </a:r>
          </a:p>
          <a:p>
            <a:pPr algn="l">
              <a:lnSpc>
                <a:spcPts val="3516"/>
              </a:lnSpc>
            </a:pPr>
            <a:endParaRPr lang="en-US" sz="3430" b="1">
              <a:solidFill>
                <a:srgbClr val="040606"/>
              </a:solidFill>
              <a:latin typeface="HK Grotesk Bold"/>
              <a:ea typeface="HK Grotesk Bold"/>
              <a:cs typeface="HK Grotesk Bold"/>
              <a:sym typeface="HK Grotesk Bold"/>
            </a:endParaRPr>
          </a:p>
          <a:p>
            <a:pPr algn="l">
              <a:lnSpc>
                <a:spcPts val="3516"/>
              </a:lnSpc>
            </a:pPr>
            <a:r>
              <a:rPr lang="en-US" sz="2930" b="1" u="sng">
                <a:solidFill>
                  <a:srgbClr val="040606"/>
                </a:solidFill>
                <a:latin typeface="HK Grotesk Bold"/>
                <a:ea typeface="HK Grotesk Bold"/>
                <a:cs typeface="HK Grotesk Bold"/>
                <a:sym typeface="HK Grotesk Bold"/>
              </a:rPr>
              <a:t>Revenue: </a:t>
            </a:r>
          </a:p>
          <a:p>
            <a:pPr algn="l">
              <a:lnSpc>
                <a:spcPts val="4688"/>
              </a:lnSpc>
            </a:pPr>
            <a:r>
              <a:rPr lang="en-US" sz="2930">
                <a:solidFill>
                  <a:srgbClr val="040606"/>
                </a:solidFill>
                <a:latin typeface="HK Grotesk"/>
                <a:ea typeface="HK Grotesk"/>
                <a:cs typeface="HK Grotesk"/>
                <a:sym typeface="HK Grotesk"/>
              </a:rPr>
              <a:t>Max. wow growth rate:   28.8 %  (Week 53)</a:t>
            </a:r>
          </a:p>
          <a:p>
            <a:pPr algn="l">
              <a:lnSpc>
                <a:spcPts val="4688"/>
              </a:lnSpc>
            </a:pPr>
            <a:r>
              <a:rPr lang="en-US" sz="2930">
                <a:solidFill>
                  <a:srgbClr val="040606"/>
                </a:solidFill>
                <a:latin typeface="HK Grotesk"/>
                <a:ea typeface="HK Grotesk"/>
                <a:cs typeface="HK Grotesk"/>
                <a:sym typeface="HK Grotesk"/>
              </a:rPr>
              <a:t>Min. wow growth rate:  -14.1 %  (Week 32)</a:t>
            </a:r>
          </a:p>
          <a:p>
            <a:pPr algn="l">
              <a:lnSpc>
                <a:spcPts val="3516"/>
              </a:lnSpc>
            </a:pPr>
            <a:endParaRPr lang="en-US" sz="2930">
              <a:solidFill>
                <a:srgbClr val="040606"/>
              </a:solidFill>
              <a:latin typeface="HK Grotesk"/>
              <a:ea typeface="HK Grotesk"/>
              <a:cs typeface="HK Grotesk"/>
              <a:sym typeface="HK Grotesk"/>
            </a:endParaRPr>
          </a:p>
          <a:p>
            <a:pPr algn="l">
              <a:lnSpc>
                <a:spcPts val="3516"/>
              </a:lnSpc>
            </a:pPr>
            <a:r>
              <a:rPr lang="en-US" sz="2930">
                <a:solidFill>
                  <a:srgbClr val="040606"/>
                </a:solidFill>
                <a:latin typeface="HK Grotesk"/>
                <a:ea typeface="HK Grotesk"/>
                <a:cs typeface="HK Grotesk"/>
                <a:sym typeface="HK Grotesk"/>
              </a:rPr>
              <a:t>Avg: 1,066,359 </a:t>
            </a:r>
          </a:p>
          <a:p>
            <a:pPr algn="l">
              <a:lnSpc>
                <a:spcPts val="3516"/>
              </a:lnSpc>
              <a:spcBef>
                <a:spcPct val="0"/>
              </a:spcBef>
            </a:pPr>
            <a:endParaRPr lang="en-US" sz="2930">
              <a:solidFill>
                <a:srgbClr val="040606"/>
              </a:solidFill>
              <a:latin typeface="HK Grotesk"/>
              <a:ea typeface="HK Grotesk"/>
              <a:cs typeface="HK Grotesk"/>
              <a:sym typeface="HK Grotesk"/>
            </a:endParaRPr>
          </a:p>
        </p:txBody>
      </p:sp>
      <p:sp>
        <p:nvSpPr>
          <p:cNvPr id="5" name="TextBox 5"/>
          <p:cNvSpPr txBox="1"/>
          <p:nvPr/>
        </p:nvSpPr>
        <p:spPr>
          <a:xfrm>
            <a:off x="810240" y="871130"/>
            <a:ext cx="8181360" cy="981075"/>
          </a:xfrm>
          <a:prstGeom prst="rect">
            <a:avLst/>
          </a:prstGeom>
        </p:spPr>
        <p:txBody>
          <a:bodyPr wrap="square" lIns="0" tIns="0" rIns="0" bIns="0" rtlCol="0" anchor="t">
            <a:spAutoFit/>
          </a:bodyPr>
          <a:lstStyle/>
          <a:p>
            <a:pPr algn="just">
              <a:lnSpc>
                <a:spcPts val="7733"/>
              </a:lnSpc>
              <a:spcBef>
                <a:spcPct val="0"/>
              </a:spcBef>
            </a:pPr>
            <a:r>
              <a:rPr lang="en-US" sz="6444" b="1" u="sng" dirty="0">
                <a:solidFill>
                  <a:srgbClr val="040606"/>
                </a:solidFill>
                <a:latin typeface="HK Grotesk Bold"/>
                <a:ea typeface="HK Grotesk Bold"/>
                <a:cs typeface="HK Grotesk Bold"/>
                <a:sym typeface="HK Grotesk Bold"/>
              </a:rPr>
              <a:t>Financial Insights</a:t>
            </a:r>
          </a:p>
        </p:txBody>
      </p:sp>
      <p:sp>
        <p:nvSpPr>
          <p:cNvPr id="6" name="TextBox 6"/>
          <p:cNvSpPr txBox="1"/>
          <p:nvPr/>
        </p:nvSpPr>
        <p:spPr>
          <a:xfrm>
            <a:off x="9144000" y="3416949"/>
            <a:ext cx="7462756" cy="2790825"/>
          </a:xfrm>
          <a:prstGeom prst="rect">
            <a:avLst/>
          </a:prstGeom>
        </p:spPr>
        <p:txBody>
          <a:bodyPr lIns="0" tIns="0" rIns="0" bIns="0" rtlCol="0" anchor="t">
            <a:spAutoFit/>
          </a:bodyPr>
          <a:lstStyle/>
          <a:p>
            <a:pPr algn="l">
              <a:lnSpc>
                <a:spcPts val="3516"/>
              </a:lnSpc>
            </a:pPr>
            <a:r>
              <a:rPr lang="en-US" sz="2930" b="1" u="sng">
                <a:solidFill>
                  <a:srgbClr val="040606"/>
                </a:solidFill>
                <a:latin typeface="HK Grotesk Bold"/>
                <a:ea typeface="HK Grotesk Bold"/>
                <a:cs typeface="HK Grotesk Bold"/>
                <a:sym typeface="HK Grotesk Bold"/>
              </a:rPr>
              <a:t>Interest Earn:</a:t>
            </a:r>
          </a:p>
          <a:p>
            <a:pPr algn="l">
              <a:lnSpc>
                <a:spcPts val="3516"/>
              </a:lnSpc>
            </a:pPr>
            <a:r>
              <a:rPr lang="en-US" sz="2930">
                <a:solidFill>
                  <a:srgbClr val="040606"/>
                </a:solidFill>
                <a:latin typeface="HK Grotesk"/>
                <a:ea typeface="HK Grotesk"/>
                <a:cs typeface="HK Grotesk"/>
                <a:sym typeface="HK Grotesk"/>
              </a:rPr>
              <a:t>Max. wow growth rate:   19.9 %  (Week 44)</a:t>
            </a:r>
          </a:p>
          <a:p>
            <a:pPr algn="l">
              <a:lnSpc>
                <a:spcPts val="4688"/>
              </a:lnSpc>
            </a:pPr>
            <a:r>
              <a:rPr lang="en-US" sz="2930">
                <a:solidFill>
                  <a:srgbClr val="040606"/>
                </a:solidFill>
                <a:latin typeface="HK Grotesk"/>
                <a:ea typeface="HK Grotesk"/>
                <a:cs typeface="HK Grotesk"/>
                <a:sym typeface="HK Grotesk"/>
              </a:rPr>
              <a:t>Min. wow growth rate:  -16.1 %  (Week 13)</a:t>
            </a:r>
          </a:p>
          <a:p>
            <a:pPr algn="l">
              <a:lnSpc>
                <a:spcPts val="3516"/>
              </a:lnSpc>
            </a:pPr>
            <a:endParaRPr lang="en-US" sz="2930">
              <a:solidFill>
                <a:srgbClr val="040606"/>
              </a:solidFill>
              <a:latin typeface="HK Grotesk"/>
              <a:ea typeface="HK Grotesk"/>
              <a:cs typeface="HK Grotesk"/>
              <a:sym typeface="HK Grotesk"/>
            </a:endParaRPr>
          </a:p>
          <a:p>
            <a:pPr algn="l">
              <a:lnSpc>
                <a:spcPts val="3516"/>
              </a:lnSpc>
            </a:pPr>
            <a:r>
              <a:rPr lang="en-US" sz="2930">
                <a:solidFill>
                  <a:srgbClr val="040606"/>
                </a:solidFill>
                <a:latin typeface="HK Grotesk"/>
                <a:ea typeface="HK Grotesk"/>
                <a:cs typeface="HK Grotesk"/>
                <a:sym typeface="HK Grotesk"/>
              </a:rPr>
              <a:t>Avg: 150613 </a:t>
            </a:r>
          </a:p>
          <a:p>
            <a:pPr algn="l">
              <a:lnSpc>
                <a:spcPts val="3516"/>
              </a:lnSpc>
              <a:spcBef>
                <a:spcPct val="0"/>
              </a:spcBef>
            </a:pPr>
            <a:endParaRPr lang="en-US" sz="2930">
              <a:solidFill>
                <a:srgbClr val="040606"/>
              </a:solidFill>
              <a:latin typeface="HK Grotesk"/>
              <a:ea typeface="HK Grotesk"/>
              <a:cs typeface="HK Grotesk"/>
              <a:sym typeface="HK Grotesk"/>
            </a:endParaRPr>
          </a:p>
        </p:txBody>
      </p:sp>
      <p:sp>
        <p:nvSpPr>
          <p:cNvPr id="7" name="TextBox 7"/>
          <p:cNvSpPr txBox="1"/>
          <p:nvPr/>
        </p:nvSpPr>
        <p:spPr>
          <a:xfrm>
            <a:off x="810240" y="6821588"/>
            <a:ext cx="7462756" cy="2505075"/>
          </a:xfrm>
          <a:prstGeom prst="rect">
            <a:avLst/>
          </a:prstGeom>
        </p:spPr>
        <p:txBody>
          <a:bodyPr lIns="0" tIns="0" rIns="0" bIns="0" rtlCol="0" anchor="t">
            <a:spAutoFit/>
          </a:bodyPr>
          <a:lstStyle/>
          <a:p>
            <a:pPr algn="l">
              <a:lnSpc>
                <a:spcPts val="3516"/>
              </a:lnSpc>
            </a:pPr>
            <a:r>
              <a:rPr lang="en-US" sz="2930" b="1" u="sng">
                <a:solidFill>
                  <a:srgbClr val="040606"/>
                </a:solidFill>
                <a:latin typeface="HK Grotesk Bold"/>
                <a:ea typeface="HK Grotesk Bold"/>
                <a:cs typeface="HK Grotesk Bold"/>
                <a:sym typeface="HK Grotesk Bold"/>
              </a:rPr>
              <a:t>Total Transaction Amount:</a:t>
            </a:r>
          </a:p>
          <a:p>
            <a:pPr algn="l">
              <a:lnSpc>
                <a:spcPts val="4688"/>
              </a:lnSpc>
            </a:pPr>
            <a:r>
              <a:rPr lang="en-US" sz="2930">
                <a:solidFill>
                  <a:srgbClr val="040606"/>
                </a:solidFill>
                <a:latin typeface="HK Grotesk"/>
                <a:ea typeface="HK Grotesk"/>
                <a:cs typeface="HK Grotesk"/>
                <a:sym typeface="HK Grotesk"/>
              </a:rPr>
              <a:t>Max. wow growth rate:    35.0 %  (Week 53)</a:t>
            </a:r>
          </a:p>
          <a:p>
            <a:pPr algn="l">
              <a:lnSpc>
                <a:spcPts val="4688"/>
              </a:lnSpc>
            </a:pPr>
            <a:r>
              <a:rPr lang="en-US" sz="2930">
                <a:solidFill>
                  <a:srgbClr val="040606"/>
                </a:solidFill>
                <a:latin typeface="HK Grotesk"/>
                <a:ea typeface="HK Grotesk"/>
                <a:cs typeface="HK Grotesk"/>
                <a:sym typeface="HK Grotesk"/>
              </a:rPr>
              <a:t>Min. wow growth rate:  -14.7 %   (Week 32)</a:t>
            </a:r>
          </a:p>
          <a:p>
            <a:pPr algn="l">
              <a:lnSpc>
                <a:spcPts val="3516"/>
              </a:lnSpc>
            </a:pPr>
            <a:endParaRPr lang="en-US" sz="2930">
              <a:solidFill>
                <a:srgbClr val="040606"/>
              </a:solidFill>
              <a:latin typeface="HK Grotesk"/>
              <a:ea typeface="HK Grotesk"/>
              <a:cs typeface="HK Grotesk"/>
              <a:sym typeface="HK Grotesk"/>
            </a:endParaRPr>
          </a:p>
          <a:p>
            <a:pPr algn="l">
              <a:lnSpc>
                <a:spcPts val="3516"/>
              </a:lnSpc>
              <a:spcBef>
                <a:spcPct val="0"/>
              </a:spcBef>
            </a:pPr>
            <a:r>
              <a:rPr lang="en-US" sz="2930">
                <a:solidFill>
                  <a:srgbClr val="040606"/>
                </a:solidFill>
                <a:latin typeface="HK Grotesk"/>
                <a:ea typeface="HK Grotesk"/>
                <a:cs typeface="HK Grotesk"/>
                <a:sym typeface="HK Grotesk"/>
              </a:rPr>
              <a:t>Avg: 859114 </a:t>
            </a:r>
          </a:p>
        </p:txBody>
      </p:sp>
      <p:sp>
        <p:nvSpPr>
          <p:cNvPr id="8" name="TextBox 8"/>
          <p:cNvSpPr txBox="1"/>
          <p:nvPr/>
        </p:nvSpPr>
        <p:spPr>
          <a:xfrm>
            <a:off x="9144000" y="6821588"/>
            <a:ext cx="7462756" cy="2943225"/>
          </a:xfrm>
          <a:prstGeom prst="rect">
            <a:avLst/>
          </a:prstGeom>
        </p:spPr>
        <p:txBody>
          <a:bodyPr lIns="0" tIns="0" rIns="0" bIns="0" rtlCol="0" anchor="t">
            <a:spAutoFit/>
          </a:bodyPr>
          <a:lstStyle/>
          <a:p>
            <a:pPr algn="l">
              <a:lnSpc>
                <a:spcPts val="3516"/>
              </a:lnSpc>
            </a:pPr>
            <a:r>
              <a:rPr lang="en-US" sz="2930" b="1" u="sng">
                <a:solidFill>
                  <a:srgbClr val="040606"/>
                </a:solidFill>
                <a:latin typeface="HK Grotesk Bold"/>
                <a:ea typeface="HK Grotesk Bold"/>
                <a:cs typeface="HK Grotesk Bold"/>
                <a:sym typeface="HK Grotesk Bold"/>
              </a:rPr>
              <a:t>Transaction Volume:</a:t>
            </a:r>
          </a:p>
          <a:p>
            <a:pPr algn="l">
              <a:lnSpc>
                <a:spcPts val="4688"/>
              </a:lnSpc>
            </a:pPr>
            <a:r>
              <a:rPr lang="en-US" sz="2930">
                <a:solidFill>
                  <a:srgbClr val="040606"/>
                </a:solidFill>
                <a:latin typeface="HK Grotesk"/>
                <a:ea typeface="HK Grotesk"/>
                <a:cs typeface="HK Grotesk"/>
                <a:sym typeface="HK Grotesk"/>
              </a:rPr>
              <a:t>Max. wow growth rate:     7.3 %  (Week 11)</a:t>
            </a:r>
          </a:p>
          <a:p>
            <a:pPr algn="l">
              <a:lnSpc>
                <a:spcPts val="4688"/>
              </a:lnSpc>
            </a:pPr>
            <a:r>
              <a:rPr lang="en-US" sz="2930">
                <a:solidFill>
                  <a:srgbClr val="040606"/>
                </a:solidFill>
                <a:latin typeface="HK Grotesk"/>
                <a:ea typeface="HK Grotesk"/>
                <a:cs typeface="HK Grotesk"/>
                <a:sym typeface="HK Grotesk"/>
              </a:rPr>
              <a:t>Min. wow growth rate:  -11.0 %  (Week 52)</a:t>
            </a:r>
          </a:p>
          <a:p>
            <a:pPr algn="l">
              <a:lnSpc>
                <a:spcPts val="3516"/>
              </a:lnSpc>
            </a:pPr>
            <a:endParaRPr lang="en-US" sz="2930">
              <a:solidFill>
                <a:srgbClr val="040606"/>
              </a:solidFill>
              <a:latin typeface="HK Grotesk"/>
              <a:ea typeface="HK Grotesk"/>
              <a:cs typeface="HK Grotesk"/>
              <a:sym typeface="HK Grotesk"/>
            </a:endParaRPr>
          </a:p>
          <a:p>
            <a:pPr algn="l">
              <a:lnSpc>
                <a:spcPts val="3516"/>
              </a:lnSpc>
            </a:pPr>
            <a:r>
              <a:rPr lang="en-US" sz="2930">
                <a:solidFill>
                  <a:srgbClr val="040606"/>
                </a:solidFill>
                <a:latin typeface="HK Grotesk"/>
                <a:ea typeface="HK Grotesk"/>
                <a:cs typeface="HK Grotesk"/>
                <a:sym typeface="HK Grotesk"/>
              </a:rPr>
              <a:t>Avg: 12,589 times</a:t>
            </a:r>
          </a:p>
          <a:p>
            <a:pPr algn="l">
              <a:lnSpc>
                <a:spcPts val="3516"/>
              </a:lnSpc>
              <a:spcBef>
                <a:spcPct val="0"/>
              </a:spcBef>
            </a:pPr>
            <a:endParaRPr lang="en-US" sz="2930">
              <a:solidFill>
                <a:srgbClr val="040606"/>
              </a:solidFill>
              <a:latin typeface="HK Grotesk"/>
              <a:ea typeface="HK Grotesk"/>
              <a:cs typeface="HK Grotesk"/>
              <a:sym typeface="HK Grotesk"/>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0312" r="-20312"/>
            </a:stretch>
          </a:blipFill>
        </p:spPr>
        <p:txBody>
          <a:bodyPr/>
          <a:lstStyle/>
          <a:p>
            <a:endParaRPr lang="en-IN"/>
          </a:p>
        </p:txBody>
      </p:sp>
      <p:sp>
        <p:nvSpPr>
          <p:cNvPr id="3" name="TextBox 3"/>
          <p:cNvSpPr txBox="1"/>
          <p:nvPr/>
        </p:nvSpPr>
        <p:spPr>
          <a:xfrm>
            <a:off x="4221692" y="1906592"/>
            <a:ext cx="8656107" cy="981075"/>
          </a:xfrm>
          <a:prstGeom prst="rect">
            <a:avLst/>
          </a:prstGeom>
        </p:spPr>
        <p:txBody>
          <a:bodyPr wrap="square" lIns="0" tIns="0" rIns="0" bIns="0" rtlCol="0" anchor="t">
            <a:spAutoFit/>
          </a:bodyPr>
          <a:lstStyle/>
          <a:p>
            <a:pPr algn="just">
              <a:lnSpc>
                <a:spcPts val="7733"/>
              </a:lnSpc>
              <a:spcBef>
                <a:spcPct val="0"/>
              </a:spcBef>
            </a:pPr>
            <a:r>
              <a:rPr lang="en-US" sz="6444" b="1" u="sng" dirty="0">
                <a:solidFill>
                  <a:srgbClr val="000000"/>
                </a:solidFill>
                <a:latin typeface="HK Grotesk Bold"/>
                <a:ea typeface="HK Grotesk Bold"/>
                <a:cs typeface="HK Grotesk Bold"/>
                <a:sym typeface="HK Grotesk Bold"/>
              </a:rPr>
              <a:t>Customer Insights</a:t>
            </a:r>
          </a:p>
        </p:txBody>
      </p:sp>
      <p:sp>
        <p:nvSpPr>
          <p:cNvPr id="4" name="TextBox 4"/>
          <p:cNvSpPr txBox="1"/>
          <p:nvPr/>
        </p:nvSpPr>
        <p:spPr>
          <a:xfrm>
            <a:off x="3781565" y="3673656"/>
            <a:ext cx="14154761" cy="3752495"/>
          </a:xfrm>
          <a:prstGeom prst="rect">
            <a:avLst/>
          </a:prstGeom>
        </p:spPr>
        <p:txBody>
          <a:bodyPr lIns="0" tIns="0" rIns="0" bIns="0" rtlCol="0" anchor="t">
            <a:spAutoFit/>
          </a:bodyPr>
          <a:lstStyle/>
          <a:p>
            <a:pPr marL="750770" lvl="1" indent="-375385" algn="l">
              <a:lnSpc>
                <a:spcPts val="6050"/>
              </a:lnSpc>
              <a:buFont typeface="Arial"/>
              <a:buChar char="•"/>
            </a:pPr>
            <a:r>
              <a:rPr lang="en-US" sz="3477">
                <a:solidFill>
                  <a:srgbClr val="000000"/>
                </a:solidFill>
                <a:latin typeface="HK Grotesk"/>
                <a:ea typeface="HK Grotesk"/>
                <a:cs typeface="HK Grotesk"/>
                <a:sym typeface="HK Grotesk"/>
              </a:rPr>
              <a:t>People from 40-60 age group are contributing 78 % of the revenue.</a:t>
            </a:r>
          </a:p>
          <a:p>
            <a:pPr marL="750770" lvl="1" indent="-375385" algn="l">
              <a:lnSpc>
                <a:spcPts val="6050"/>
              </a:lnSpc>
              <a:buFont typeface="Arial"/>
              <a:buChar char="•"/>
            </a:pPr>
            <a:r>
              <a:rPr lang="en-US" sz="3477">
                <a:solidFill>
                  <a:srgbClr val="000000"/>
                </a:solidFill>
                <a:latin typeface="HK Grotesk"/>
                <a:ea typeface="HK Grotesk"/>
                <a:cs typeface="HK Grotesk"/>
                <a:sym typeface="HK Grotesk"/>
              </a:rPr>
              <a:t>Business &amp; white-collar professionals are contributing around 50 % of the revenue.</a:t>
            </a:r>
          </a:p>
          <a:p>
            <a:pPr marL="750770" lvl="1" indent="-375385" algn="l">
              <a:lnSpc>
                <a:spcPts val="6050"/>
              </a:lnSpc>
              <a:buFont typeface="Arial"/>
              <a:buChar char="•"/>
            </a:pPr>
            <a:r>
              <a:rPr lang="en-US" sz="3477">
                <a:solidFill>
                  <a:srgbClr val="000000"/>
                </a:solidFill>
                <a:latin typeface="HK Grotesk"/>
                <a:ea typeface="HK Grotesk"/>
                <a:cs typeface="HK Grotesk"/>
                <a:sym typeface="HK Grotesk"/>
              </a:rPr>
              <a:t>46% of the customers are graduated.</a:t>
            </a:r>
          </a:p>
          <a:p>
            <a:pPr marL="750770" lvl="1" indent="-375385" algn="l">
              <a:lnSpc>
                <a:spcPts val="6050"/>
              </a:lnSpc>
              <a:buFont typeface="Arial"/>
              <a:buChar char="•"/>
            </a:pPr>
            <a:r>
              <a:rPr lang="en-US" sz="3477">
                <a:solidFill>
                  <a:srgbClr val="000000"/>
                </a:solidFill>
                <a:latin typeface="HK Grotesk"/>
                <a:ea typeface="HK Grotesk"/>
                <a:cs typeface="HK Grotesk"/>
                <a:sym typeface="HK Grotesk"/>
              </a:rPr>
              <a:t>51.3% of amount is transacted by swipe mode.</a:t>
            </a:r>
          </a:p>
        </p:txBody>
      </p:sp>
      <p:grpSp>
        <p:nvGrpSpPr>
          <p:cNvPr id="5" name="Group 5"/>
          <p:cNvGrpSpPr/>
          <p:nvPr/>
        </p:nvGrpSpPr>
        <p:grpSpPr>
          <a:xfrm>
            <a:off x="0" y="0"/>
            <a:ext cx="3086100" cy="10287000"/>
            <a:chOff x="0" y="0"/>
            <a:chExt cx="812800" cy="2709333"/>
          </a:xfrm>
        </p:grpSpPr>
        <p:sp>
          <p:nvSpPr>
            <p:cNvPr id="6" name="Freeform 6"/>
            <p:cNvSpPr/>
            <p:nvPr/>
          </p:nvSpPr>
          <p:spPr>
            <a:xfrm>
              <a:off x="0" y="0"/>
              <a:ext cx="812800" cy="2709333"/>
            </a:xfrm>
            <a:custGeom>
              <a:avLst/>
              <a:gdLst/>
              <a:ahLst/>
              <a:cxnLst/>
              <a:rect l="l" t="t" r="r" b="b"/>
              <a:pathLst>
                <a:path w="812800" h="2709333">
                  <a:moveTo>
                    <a:pt x="0" y="0"/>
                  </a:moveTo>
                  <a:lnTo>
                    <a:pt x="812800" y="0"/>
                  </a:lnTo>
                  <a:lnTo>
                    <a:pt x="812800" y="2709333"/>
                  </a:lnTo>
                  <a:lnTo>
                    <a:pt x="0" y="2709333"/>
                  </a:lnTo>
                  <a:close/>
                </a:path>
              </a:pathLst>
            </a:custGeom>
            <a:solidFill>
              <a:srgbClr val="593C8F"/>
            </a:solidFill>
          </p:spPr>
          <p:txBody>
            <a:bodyPr/>
            <a:lstStyle/>
            <a:p>
              <a:endParaRPr lang="en-IN"/>
            </a:p>
          </p:txBody>
        </p:sp>
        <p:sp>
          <p:nvSpPr>
            <p:cNvPr id="7" name="TextBox 7"/>
            <p:cNvSpPr txBox="1"/>
            <p:nvPr/>
          </p:nvSpPr>
          <p:spPr>
            <a:xfrm>
              <a:off x="0" y="-47625"/>
              <a:ext cx="812800" cy="2756958"/>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0312" r="-20312"/>
            </a:stretch>
          </a:blipFill>
        </p:spPr>
        <p:txBody>
          <a:bodyPr/>
          <a:lstStyle/>
          <a:p>
            <a:endParaRPr lang="en-IN"/>
          </a:p>
        </p:txBody>
      </p:sp>
      <p:sp>
        <p:nvSpPr>
          <p:cNvPr id="3" name="TextBox 3"/>
          <p:cNvSpPr txBox="1"/>
          <p:nvPr/>
        </p:nvSpPr>
        <p:spPr>
          <a:xfrm>
            <a:off x="2656462" y="854548"/>
            <a:ext cx="8026608" cy="1000125"/>
          </a:xfrm>
          <a:prstGeom prst="rect">
            <a:avLst/>
          </a:prstGeom>
        </p:spPr>
        <p:txBody>
          <a:bodyPr lIns="0" tIns="0" rIns="0" bIns="0" rtlCol="0" anchor="t">
            <a:spAutoFit/>
          </a:bodyPr>
          <a:lstStyle/>
          <a:p>
            <a:pPr algn="just">
              <a:lnSpc>
                <a:spcPts val="7853"/>
              </a:lnSpc>
              <a:spcBef>
                <a:spcPct val="0"/>
              </a:spcBef>
            </a:pPr>
            <a:r>
              <a:rPr lang="en-US" sz="6544" b="1" u="sng">
                <a:solidFill>
                  <a:srgbClr val="000000"/>
                </a:solidFill>
                <a:latin typeface="HK Grotesk Bold"/>
                <a:ea typeface="HK Grotesk Bold"/>
                <a:cs typeface="HK Grotesk Bold"/>
                <a:sym typeface="HK Grotesk Bold"/>
              </a:rPr>
              <a:t>Overall performance</a:t>
            </a:r>
          </a:p>
        </p:txBody>
      </p:sp>
      <p:sp>
        <p:nvSpPr>
          <p:cNvPr id="4" name="TextBox 4"/>
          <p:cNvSpPr txBox="1"/>
          <p:nvPr/>
        </p:nvSpPr>
        <p:spPr>
          <a:xfrm>
            <a:off x="2266752" y="2586193"/>
            <a:ext cx="13603358" cy="6291107"/>
          </a:xfrm>
          <a:prstGeom prst="rect">
            <a:avLst/>
          </a:prstGeom>
        </p:spPr>
        <p:txBody>
          <a:bodyPr lIns="0" tIns="0" rIns="0" bIns="0" rtlCol="0" anchor="t">
            <a:spAutoFit/>
          </a:bodyPr>
          <a:lstStyle/>
          <a:p>
            <a:pPr marL="722198" lvl="1" indent="-361099" algn="l">
              <a:lnSpc>
                <a:spcPts val="5552"/>
              </a:lnSpc>
              <a:buFont typeface="Arial"/>
              <a:buChar char="•"/>
            </a:pPr>
            <a:r>
              <a:rPr lang="en-US" sz="3345">
                <a:solidFill>
                  <a:srgbClr val="000000"/>
                </a:solidFill>
                <a:latin typeface="HK Grotesk"/>
                <a:ea typeface="HK Grotesk"/>
                <a:cs typeface="HK Grotesk"/>
                <a:sym typeface="HK Grotesk"/>
              </a:rPr>
              <a:t>Overall revenue is 57.6M.</a:t>
            </a:r>
          </a:p>
          <a:p>
            <a:pPr marL="722198" lvl="1" indent="-361099" algn="l">
              <a:lnSpc>
                <a:spcPts val="5552"/>
              </a:lnSpc>
              <a:buFont typeface="Arial"/>
              <a:buChar char="•"/>
            </a:pPr>
            <a:r>
              <a:rPr lang="en-US" sz="3345">
                <a:solidFill>
                  <a:srgbClr val="000000"/>
                </a:solidFill>
                <a:latin typeface="HK Grotesk"/>
                <a:ea typeface="HK Grotesk"/>
                <a:cs typeface="HK Grotesk"/>
                <a:sym typeface="HK Grotesk"/>
              </a:rPr>
              <a:t>Total interest is 8M.</a:t>
            </a:r>
          </a:p>
          <a:p>
            <a:pPr marL="722198" lvl="1" indent="-361099" algn="l">
              <a:lnSpc>
                <a:spcPts val="5552"/>
              </a:lnSpc>
              <a:buFont typeface="Arial"/>
              <a:buChar char="•"/>
            </a:pPr>
            <a:r>
              <a:rPr lang="en-US" sz="3345">
                <a:solidFill>
                  <a:srgbClr val="000000"/>
                </a:solidFill>
                <a:latin typeface="HK Grotesk"/>
                <a:ea typeface="HK Grotesk"/>
                <a:cs typeface="HK Grotesk"/>
                <a:sym typeface="HK Grotesk"/>
              </a:rPr>
              <a:t>Total transaction amount is 46M.</a:t>
            </a:r>
          </a:p>
          <a:p>
            <a:pPr marL="722198" lvl="1" indent="-361099" algn="l">
              <a:lnSpc>
                <a:spcPts val="5552"/>
              </a:lnSpc>
              <a:buFont typeface="Arial"/>
              <a:buChar char="•"/>
            </a:pPr>
            <a:r>
              <a:rPr lang="en-US" sz="3345">
                <a:solidFill>
                  <a:srgbClr val="000000"/>
                </a:solidFill>
                <a:latin typeface="HK Grotesk"/>
                <a:ea typeface="HK Grotesk"/>
                <a:cs typeface="HK Grotesk"/>
                <a:sym typeface="HK Grotesk"/>
              </a:rPr>
              <a:t>Male customers are contributing more in revenue 31M, female 26M.</a:t>
            </a:r>
          </a:p>
          <a:p>
            <a:pPr marL="722198" lvl="1" indent="-361099" algn="l">
              <a:lnSpc>
                <a:spcPts val="5552"/>
              </a:lnSpc>
              <a:buFont typeface="Arial"/>
              <a:buChar char="•"/>
            </a:pPr>
            <a:r>
              <a:rPr lang="en-US" sz="3345">
                <a:solidFill>
                  <a:srgbClr val="000000"/>
                </a:solidFill>
                <a:latin typeface="HK Grotesk"/>
                <a:ea typeface="HK Grotesk"/>
                <a:cs typeface="HK Grotesk"/>
                <a:sym typeface="HK Grotesk"/>
              </a:rPr>
              <a:t>Blue &amp; Silver credit cards are contributing to 93% of overall transactions.</a:t>
            </a:r>
          </a:p>
          <a:p>
            <a:pPr marL="722198" lvl="1" indent="-361099" algn="l">
              <a:lnSpc>
                <a:spcPts val="5552"/>
              </a:lnSpc>
              <a:buFont typeface="Arial"/>
              <a:buChar char="•"/>
            </a:pPr>
            <a:r>
              <a:rPr lang="en-US" sz="3345">
                <a:solidFill>
                  <a:srgbClr val="000000"/>
                </a:solidFill>
                <a:latin typeface="HK Grotesk"/>
                <a:ea typeface="HK Grotesk"/>
                <a:cs typeface="HK Grotesk"/>
                <a:sym typeface="HK Grotesk"/>
              </a:rPr>
              <a:t>TX, NY &amp; CA states are contributing around 68.9% of the revenue.</a:t>
            </a:r>
          </a:p>
          <a:p>
            <a:pPr marL="722198" lvl="1" indent="-361099" algn="l">
              <a:lnSpc>
                <a:spcPts val="5552"/>
              </a:lnSpc>
              <a:buFont typeface="Arial"/>
              <a:buChar char="•"/>
            </a:pPr>
            <a:r>
              <a:rPr lang="en-US" sz="3345">
                <a:solidFill>
                  <a:srgbClr val="000000"/>
                </a:solidFill>
                <a:latin typeface="HK Grotesk"/>
                <a:ea typeface="HK Grotesk"/>
                <a:cs typeface="HK Grotesk"/>
                <a:sym typeface="HK Grotesk"/>
              </a:rPr>
              <a:t>Overall Activation rate is 57.5%. (in 30 days)</a:t>
            </a:r>
          </a:p>
          <a:p>
            <a:pPr marL="722198" lvl="1" indent="-361099" algn="l">
              <a:lnSpc>
                <a:spcPts val="5552"/>
              </a:lnSpc>
              <a:buFont typeface="Arial"/>
              <a:buChar char="•"/>
            </a:pPr>
            <a:r>
              <a:rPr lang="en-US" sz="3345">
                <a:solidFill>
                  <a:srgbClr val="000000"/>
                </a:solidFill>
                <a:latin typeface="HK Grotesk"/>
                <a:ea typeface="HK Grotesk"/>
                <a:cs typeface="HK Grotesk"/>
                <a:sym typeface="HK Grotesk"/>
              </a:rPr>
              <a:t>Overall Delinquent rate is 6.06%.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0312" r="-20312"/>
            </a:stretch>
          </a:blipFill>
        </p:spPr>
        <p:txBody>
          <a:bodyPr/>
          <a:lstStyle/>
          <a:p>
            <a:endParaRPr lang="en-IN"/>
          </a:p>
        </p:txBody>
      </p:sp>
      <p:sp>
        <p:nvSpPr>
          <p:cNvPr id="3" name="TextBox 3"/>
          <p:cNvSpPr txBox="1"/>
          <p:nvPr/>
        </p:nvSpPr>
        <p:spPr>
          <a:xfrm>
            <a:off x="3712010" y="4066009"/>
            <a:ext cx="10143658" cy="1375155"/>
          </a:xfrm>
          <a:prstGeom prst="rect">
            <a:avLst/>
          </a:prstGeom>
        </p:spPr>
        <p:txBody>
          <a:bodyPr lIns="0" tIns="0" rIns="0" bIns="0" rtlCol="0" anchor="t">
            <a:spAutoFit/>
          </a:bodyPr>
          <a:lstStyle/>
          <a:p>
            <a:pPr algn="ctr">
              <a:lnSpc>
                <a:spcPts val="11272"/>
              </a:lnSpc>
              <a:spcBef>
                <a:spcPct val="0"/>
              </a:spcBef>
            </a:pPr>
            <a:r>
              <a:rPr lang="en-US" sz="8051">
                <a:solidFill>
                  <a:srgbClr val="593C8F"/>
                </a:solidFill>
                <a:latin typeface="League Spartan"/>
                <a:ea typeface="League Spartan"/>
                <a:cs typeface="League Spartan"/>
                <a:sym typeface="League Spartan"/>
              </a:rPr>
              <a:t>THANK YOU</a:t>
            </a:r>
          </a:p>
        </p:txBody>
      </p:sp>
      <p:grpSp>
        <p:nvGrpSpPr>
          <p:cNvPr id="4" name="Group 4"/>
          <p:cNvGrpSpPr/>
          <p:nvPr/>
        </p:nvGrpSpPr>
        <p:grpSpPr>
          <a:xfrm rot="5400000">
            <a:off x="8456331" y="455331"/>
            <a:ext cx="1375337" cy="16230600"/>
            <a:chOff x="0" y="0"/>
            <a:chExt cx="362229" cy="4274726"/>
          </a:xfrm>
        </p:grpSpPr>
        <p:sp>
          <p:nvSpPr>
            <p:cNvPr id="5" name="Freeform 5"/>
            <p:cNvSpPr/>
            <p:nvPr/>
          </p:nvSpPr>
          <p:spPr>
            <a:xfrm>
              <a:off x="0" y="0"/>
              <a:ext cx="362229" cy="4274726"/>
            </a:xfrm>
            <a:custGeom>
              <a:avLst/>
              <a:gdLst/>
              <a:ahLst/>
              <a:cxnLst/>
              <a:rect l="l" t="t" r="r" b="b"/>
              <a:pathLst>
                <a:path w="362229" h="4274726">
                  <a:moveTo>
                    <a:pt x="0" y="0"/>
                  </a:moveTo>
                  <a:lnTo>
                    <a:pt x="362229" y="0"/>
                  </a:lnTo>
                  <a:lnTo>
                    <a:pt x="362229" y="4274726"/>
                  </a:lnTo>
                  <a:lnTo>
                    <a:pt x="0" y="4274726"/>
                  </a:lnTo>
                  <a:close/>
                </a:path>
              </a:pathLst>
            </a:custGeom>
            <a:solidFill>
              <a:srgbClr val="593C8F"/>
            </a:solidFill>
          </p:spPr>
          <p:txBody>
            <a:bodyPr/>
            <a:lstStyle/>
            <a:p>
              <a:endParaRPr lang="en-IN"/>
            </a:p>
          </p:txBody>
        </p:sp>
        <p:sp>
          <p:nvSpPr>
            <p:cNvPr id="6" name="TextBox 6"/>
            <p:cNvSpPr txBox="1"/>
            <p:nvPr/>
          </p:nvSpPr>
          <p:spPr>
            <a:xfrm>
              <a:off x="0" y="-47625"/>
              <a:ext cx="362229" cy="4322351"/>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333</Words>
  <Application>Microsoft Office PowerPoint</Application>
  <PresentationFormat>Custom</PresentationFormat>
  <Paragraphs>46</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HK Grotesk Bold</vt:lpstr>
      <vt:lpstr>Calibri</vt:lpstr>
      <vt:lpstr>Arial</vt:lpstr>
      <vt:lpstr>League Spartan</vt:lpstr>
      <vt:lpstr>HK Grotesk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Purple &amp;  white business profile presentation</dc:title>
  <cp:lastModifiedBy>Chirag Trivedi</cp:lastModifiedBy>
  <cp:revision>2</cp:revision>
  <dcterms:created xsi:type="dcterms:W3CDTF">2006-08-16T00:00:00Z</dcterms:created>
  <dcterms:modified xsi:type="dcterms:W3CDTF">2025-12-27T14:08:08Z</dcterms:modified>
  <dc:identifier>DAG8tcLbL1E</dc:identifier>
</cp:coreProperties>
</file>